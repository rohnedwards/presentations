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3" r:id="rId2"/>
    <p:sldId id="257" r:id="rId3"/>
    <p:sldId id="267" r:id="rId4"/>
    <p:sldId id="268" r:id="rId5"/>
    <p:sldId id="262" r:id="rId6"/>
    <p:sldId id="265" r:id="rId7"/>
    <p:sldId id="270" r:id="rId8"/>
  </p:sldIdLst>
  <p:sldSz cx="11520488" cy="6480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1" userDrawn="1">
          <p15:clr>
            <a:srgbClr val="A4A3A4"/>
          </p15:clr>
        </p15:guide>
        <p15:guide id="2" pos="36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014" autoAdjust="0"/>
  </p:normalViewPr>
  <p:slideViewPr>
    <p:cSldViewPr snapToGrid="0" snapToObjects="1">
      <p:cViewPr varScale="1">
        <p:scale>
          <a:sx n="56" d="100"/>
          <a:sy n="56" d="100"/>
        </p:scale>
        <p:origin x="1392" y="60"/>
      </p:cViewPr>
      <p:guideLst>
        <p:guide orient="horz" pos="2041"/>
        <p:guide pos="3629"/>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963FC5-C6AA-4A22-9AC3-C2BADD64F441}" type="datetimeFigureOut">
              <a:rPr lang="en-US" smtClean="0"/>
              <a:t>7/28/2017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75CF84-A84D-4D97-8E33-8825CFFD9CF8}" type="slidenum">
              <a:rPr lang="en-US" smtClean="0"/>
              <a:t>‹#›</a:t>
            </a:fld>
            <a:endParaRPr lang="en-US"/>
          </a:p>
        </p:txBody>
      </p:sp>
    </p:spTree>
    <p:extLst>
      <p:ext uri="{BB962C8B-B14F-4D97-AF65-F5344CB8AC3E}">
        <p14:creationId xmlns:p14="http://schemas.microsoft.com/office/powerpoint/2010/main" val="348783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Big</a:t>
            </a:r>
            <a:r>
              <a:rPr lang="en-US" baseline="0" dirty="0" smtClean="0"/>
              <a:t> takeaways:</a:t>
            </a:r>
          </a:p>
          <a:p>
            <a:r>
              <a:rPr lang="en-US" baseline="0" dirty="0" smtClean="0"/>
              <a:t>  * PowerShell’s </a:t>
            </a:r>
            <a:r>
              <a:rPr lang="en-US" baseline="0" dirty="0" smtClean="0"/>
              <a:t>not the only way to do this</a:t>
            </a:r>
          </a:p>
          <a:p>
            <a:r>
              <a:rPr lang="en-US" baseline="0" dirty="0" smtClean="0"/>
              <a:t>  * Using </a:t>
            </a:r>
            <a:r>
              <a:rPr lang="en-US" baseline="0" dirty="0" smtClean="0"/>
              <a:t>an established environment like this to return results means lots and lots of utilities that are already made get to help you with your data</a:t>
            </a:r>
          </a:p>
          <a:p>
            <a:endParaRPr lang="en-US" baseline="0" dirty="0" smtClean="0"/>
          </a:p>
          <a:p>
            <a:r>
              <a:rPr lang="en-US" baseline="0" dirty="0" smtClean="0"/>
              <a:t>Warning about PS remoting/constrained endpoint: It would take a lot of work to consider this a security boundary. I trust the PowerShell components to do their job and keep everything secure, but the DB reader parts need a lot of work to make sure there are no SQL or PS code injection points for end users of the final commands. The intent is to get the module down to where there are no injection points, but even when that’s done, I wouldn’t even begin to try to guarantee that the commands are secure. This doesn’t matter so much when you trust your end users to be able to see the connection string and to run the commands in their own context (who needs to inject code when you can just run it as yourself)</a:t>
            </a:r>
            <a:endParaRPr lang="en-US" baseline="0" dirty="0" smtClean="0"/>
          </a:p>
        </p:txBody>
      </p:sp>
      <p:sp>
        <p:nvSpPr>
          <p:cNvPr id="4" name="Slide Number Placeholder 3"/>
          <p:cNvSpPr>
            <a:spLocks noGrp="1"/>
          </p:cNvSpPr>
          <p:nvPr>
            <p:ph type="sldNum" sz="quarter" idx="10"/>
          </p:nvPr>
        </p:nvSpPr>
        <p:spPr/>
        <p:txBody>
          <a:bodyPr/>
          <a:lstStyle/>
          <a:p>
            <a:fld id="{B775CF84-A84D-4D97-8E33-8825CFFD9CF8}" type="slidenum">
              <a:rPr lang="en-US" smtClean="0"/>
              <a:t>3</a:t>
            </a:fld>
            <a:endParaRPr lang="en-US"/>
          </a:p>
        </p:txBody>
      </p:sp>
    </p:spTree>
    <p:extLst>
      <p:ext uri="{BB962C8B-B14F-4D97-AF65-F5344CB8AC3E}">
        <p14:creationId xmlns:p14="http://schemas.microsoft.com/office/powerpoint/2010/main" val="1082662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 benefit:</a:t>
            </a:r>
            <a:r>
              <a:rPr lang="en-US" baseline="0" dirty="0" smtClean="0"/>
              <a:t> as updates are made to the engine file, all commands generated with it are updated the next time the module is imported with no extra code changes (as a module author, you’d want to test your commands before updating the engine file for any users of the module).</a:t>
            </a:r>
            <a:endParaRPr lang="en-US" dirty="0"/>
          </a:p>
        </p:txBody>
      </p:sp>
      <p:sp>
        <p:nvSpPr>
          <p:cNvPr id="4" name="Slide Number Placeholder 3"/>
          <p:cNvSpPr>
            <a:spLocks noGrp="1"/>
          </p:cNvSpPr>
          <p:nvPr>
            <p:ph type="sldNum" sz="quarter" idx="10"/>
          </p:nvPr>
        </p:nvSpPr>
        <p:spPr/>
        <p:txBody>
          <a:bodyPr/>
          <a:lstStyle/>
          <a:p>
            <a:fld id="{B775CF84-A84D-4D97-8E33-8825CFFD9CF8}" type="slidenum">
              <a:rPr lang="en-US" smtClean="0"/>
              <a:t>4</a:t>
            </a:fld>
            <a:endParaRPr lang="en-US"/>
          </a:p>
        </p:txBody>
      </p:sp>
    </p:spTree>
    <p:extLst>
      <p:ext uri="{BB962C8B-B14F-4D97-AF65-F5344CB8AC3E}">
        <p14:creationId xmlns:p14="http://schemas.microsoft.com/office/powerpoint/2010/main" val="3757671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link</a:t>
            </a:r>
            <a:r>
              <a:rPr lang="en-US" baseline="0" dirty="0" smtClean="0"/>
              <a:t> to a presentation about how this module works can be found here: https://www.youtube.com/watch?v=BbVO3z7AjnQ&amp;t=354s</a:t>
            </a:r>
            <a:endParaRPr lang="en-US" dirty="0"/>
          </a:p>
        </p:txBody>
      </p:sp>
      <p:sp>
        <p:nvSpPr>
          <p:cNvPr id="4" name="Slide Number Placeholder 3"/>
          <p:cNvSpPr>
            <a:spLocks noGrp="1"/>
          </p:cNvSpPr>
          <p:nvPr>
            <p:ph type="sldNum" sz="quarter" idx="10"/>
          </p:nvPr>
        </p:nvSpPr>
        <p:spPr/>
        <p:txBody>
          <a:bodyPr/>
          <a:lstStyle/>
          <a:p>
            <a:fld id="{B775CF84-A84D-4D97-8E33-8825CFFD9CF8}" type="slidenum">
              <a:rPr lang="en-US" smtClean="0"/>
              <a:t>6</a:t>
            </a:fld>
            <a:endParaRPr lang="en-US"/>
          </a:p>
        </p:txBody>
      </p:sp>
    </p:spTree>
    <p:extLst>
      <p:ext uri="{BB962C8B-B14F-4D97-AF65-F5344CB8AC3E}">
        <p14:creationId xmlns:p14="http://schemas.microsoft.com/office/powerpoint/2010/main" val="40900931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33" name="Rectangle 32"/>
          <p:cNvSpPr>
            <a:spLocks noChangeAspect="1"/>
          </p:cNvSpPr>
          <p:nvPr userDrawn="1"/>
        </p:nvSpPr>
        <p:spPr>
          <a:xfrm>
            <a:off x="6555600" y="-359913"/>
            <a:ext cx="5324000" cy="7200000"/>
          </a:xfrm>
          <a:prstGeom prst="rect">
            <a:avLst/>
          </a:prstGeom>
          <a:blipFill>
            <a:blip r:embed="rId2">
              <a:alphaModFix amt="20000"/>
            </a:blip>
            <a:stretch>
              <a:fillRect/>
            </a:stretch>
          </a:blipFill>
        </p:spPr>
        <p:txBody>
          <a:bodyPr lIns="0" tIns="0" rIns="0" bIns="0" rtlCol="0" anchor="ctr">
            <a:spAutoFit/>
          </a:bodyPr>
          <a:lstStyle/>
          <a:p>
            <a:pPr algn="l"/>
            <a:endParaRPr lang="en-US" sz="2400" dirty="0">
              <a:solidFill>
                <a:schemeClr val="accent1"/>
              </a:solidFill>
            </a:endParaRPr>
          </a:p>
        </p:txBody>
      </p:sp>
      <p:sp>
        <p:nvSpPr>
          <p:cNvPr id="2" name="Title 1"/>
          <p:cNvSpPr>
            <a:spLocks noGrp="1"/>
          </p:cNvSpPr>
          <p:nvPr>
            <p:ph type="ctrTitle" hasCustomPrompt="1"/>
          </p:nvPr>
        </p:nvSpPr>
        <p:spPr>
          <a:xfrm>
            <a:off x="359907" y="3779838"/>
            <a:ext cx="10800218" cy="2339975"/>
          </a:xfrm>
        </p:spPr>
        <p:txBody>
          <a:bodyPr anchor="b">
            <a:noAutofit/>
          </a:bodyPr>
          <a:lstStyle>
            <a:lvl1pPr algn="l">
              <a:defRPr sz="6000">
                <a:solidFill>
                  <a:schemeClr val="tx1"/>
                </a:solidFill>
                <a:latin typeface="+mn-lt"/>
              </a:defRPr>
            </a:lvl1pPr>
          </a:lstStyle>
          <a:p>
            <a:r>
              <a:rPr lang="en-US" dirty="0"/>
              <a:t>Presentation Title</a:t>
            </a:r>
          </a:p>
        </p:txBody>
      </p:sp>
      <p:sp>
        <p:nvSpPr>
          <p:cNvPr id="14" name="Text Placeholder 13"/>
          <p:cNvSpPr>
            <a:spLocks noGrp="1"/>
          </p:cNvSpPr>
          <p:nvPr>
            <p:ph type="body" sz="quarter" idx="10" hasCustomPrompt="1"/>
          </p:nvPr>
        </p:nvSpPr>
        <p:spPr>
          <a:xfrm>
            <a:off x="361157" y="360588"/>
            <a:ext cx="10799762" cy="1079500"/>
          </a:xfrm>
        </p:spPr>
        <p:txBody>
          <a:bodyPr anchor="t">
            <a:noAutofit/>
          </a:bodyPr>
          <a:lstStyle>
            <a:lvl1pPr algn="l">
              <a:defRPr lang="en-US" sz="4000" b="0" kern="1200" dirty="0" smtClean="0">
                <a:solidFill>
                  <a:schemeClr val="accent1"/>
                </a:solidFill>
                <a:latin typeface="+mj-lt"/>
                <a:ea typeface="+mn-ea"/>
                <a:cs typeface="+mn-cs"/>
              </a:defRPr>
            </a:lvl1pPr>
          </a:lstStyle>
          <a:p>
            <a:pPr lvl="0"/>
            <a:r>
              <a:rPr lang="en-US" dirty="0"/>
              <a:t>Speaker Name</a:t>
            </a:r>
          </a:p>
        </p:txBody>
      </p:sp>
      <p:pic>
        <p:nvPicPr>
          <p:cNvPr id="6" name="Picture 5"/>
          <p:cNvPicPr>
            <a:picLocks noChangeAspect="1"/>
          </p:cNvPicPr>
          <p:nvPr userDrawn="1"/>
        </p:nvPicPr>
        <p:blipFill>
          <a:blip r:embed="rId3"/>
          <a:stretch>
            <a:fillRect/>
          </a:stretch>
        </p:blipFill>
        <p:spPr>
          <a:xfrm>
            <a:off x="8673244" y="3060087"/>
            <a:ext cx="2486881" cy="360000"/>
          </a:xfrm>
          <a:prstGeom prst="rect">
            <a:avLst/>
          </a:prstGeom>
        </p:spPr>
      </p:pic>
    </p:spTree>
    <p:extLst>
      <p:ext uri="{BB962C8B-B14F-4D97-AF65-F5344CB8AC3E}">
        <p14:creationId xmlns:p14="http://schemas.microsoft.com/office/powerpoint/2010/main" val="80073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3" name="Rectangle 22"/>
          <p:cNvSpPr>
            <a:spLocks noChangeAspect="1"/>
          </p:cNvSpPr>
          <p:nvPr userDrawn="1"/>
        </p:nvSpPr>
        <p:spPr>
          <a:xfrm>
            <a:off x="-360000" y="-359913"/>
            <a:ext cx="5324000" cy="7200000"/>
          </a:xfrm>
          <a:prstGeom prst="rect">
            <a:avLst/>
          </a:prstGeom>
          <a:blipFill>
            <a:blip r:embed="rId2">
              <a:alphaModFix amt="20000"/>
            </a:blip>
            <a:stretch>
              <a:fillRect/>
            </a:stretch>
          </a:blipFill>
        </p:spPr>
        <p:txBody>
          <a:bodyPr lIns="0" tIns="0" rIns="0" bIns="0" rtlCol="0" anchor="ctr">
            <a:spAutoFit/>
          </a:bodyPr>
          <a:lstStyle/>
          <a:p>
            <a:pPr algn="l"/>
            <a:endParaRPr lang="en-US" sz="2400" dirty="0">
              <a:solidFill>
                <a:schemeClr val="accent1"/>
              </a:solidFill>
            </a:endParaRPr>
          </a:p>
        </p:txBody>
      </p:sp>
      <p:sp>
        <p:nvSpPr>
          <p:cNvPr id="2" name="Title 1"/>
          <p:cNvSpPr>
            <a:spLocks noGrp="1"/>
          </p:cNvSpPr>
          <p:nvPr>
            <p:ph type="title" hasCustomPrompt="1"/>
          </p:nvPr>
        </p:nvSpPr>
        <p:spPr>
          <a:xfrm>
            <a:off x="360364" y="360363"/>
            <a:ext cx="10799762" cy="5759449"/>
          </a:xfrm>
        </p:spPr>
        <p:txBody>
          <a:bodyPr anchor="ctr"/>
          <a:lstStyle>
            <a:lvl1pPr algn="r">
              <a:defRPr sz="6000" b="0" i="0" cap="none">
                <a:solidFill>
                  <a:schemeClr val="accent1"/>
                </a:solidFill>
                <a:latin typeface="+mj-lt"/>
                <a:cs typeface="Arial"/>
              </a:defRPr>
            </a:lvl1pPr>
          </a:lstStyle>
          <a:p>
            <a:r>
              <a:rPr lang="en-US" dirty="0"/>
              <a:t>Section Title</a:t>
            </a:r>
          </a:p>
        </p:txBody>
      </p:sp>
    </p:spTree>
    <p:extLst>
      <p:ext uri="{BB962C8B-B14F-4D97-AF65-F5344CB8AC3E}">
        <p14:creationId xmlns:p14="http://schemas.microsoft.com/office/powerpoint/2010/main" val="3510596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0" indent="0">
              <a:buFont typeface="Wingdings" charset="2"/>
              <a:buNone/>
              <a:defRPr>
                <a:solidFill>
                  <a:schemeClr val="tx2"/>
                </a:solidFill>
              </a:defRPr>
            </a:lvl1pPr>
            <a:lvl2pPr marL="576027" indent="0">
              <a:buFont typeface="Wingdings" charset="2"/>
              <a:buNone/>
              <a:defRPr>
                <a:solidFill>
                  <a:srgbClr val="474947"/>
                </a:solidFill>
              </a:defRPr>
            </a:lvl2pPr>
            <a:lvl3pPr marL="1152053" indent="0">
              <a:buFont typeface="Wingdings" charset="2"/>
              <a:buNone/>
              <a:defRPr>
                <a:solidFill>
                  <a:srgbClr val="474947"/>
                </a:solidFill>
              </a:defRPr>
            </a:lvl3pPr>
            <a:lvl4pPr marL="1728079" indent="0">
              <a:buFont typeface="Wingdings" charset="2"/>
              <a:buNone/>
              <a:defRPr>
                <a:solidFill>
                  <a:srgbClr val="474947"/>
                </a:solidFill>
              </a:defRPr>
            </a:lvl4pPr>
            <a:lvl5pPr marL="2304105" indent="0">
              <a:buFont typeface="Wingdings" charset="2"/>
              <a:buNone/>
              <a:defRPr>
                <a:solidFill>
                  <a:srgbClr val="474947"/>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514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1537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125" y="360363"/>
            <a:ext cx="10800000" cy="5759450"/>
          </a:xfrm>
        </p:spPr>
        <p:txBody>
          <a:bodyPr/>
          <a:lstStyle>
            <a:lvl1pPr marL="0" indent="0">
              <a:buFont typeface="Wingdings" charset="2"/>
              <a:buNone/>
              <a:defRPr>
                <a:solidFill>
                  <a:schemeClr val="tx2"/>
                </a:solidFill>
              </a:defRPr>
            </a:lvl1pPr>
            <a:lvl2pPr marL="576027" indent="0">
              <a:buFont typeface="Wingdings" charset="2"/>
              <a:buNone/>
              <a:defRPr>
                <a:solidFill>
                  <a:srgbClr val="474947"/>
                </a:solidFill>
              </a:defRPr>
            </a:lvl2pPr>
            <a:lvl3pPr marL="1152053" indent="0">
              <a:buFont typeface="Wingdings" charset="2"/>
              <a:buNone/>
              <a:defRPr>
                <a:solidFill>
                  <a:srgbClr val="474947"/>
                </a:solidFill>
              </a:defRPr>
            </a:lvl3pPr>
            <a:lvl4pPr marL="1728079" indent="0">
              <a:buFont typeface="Wingdings" charset="2"/>
              <a:buNone/>
              <a:defRPr>
                <a:solidFill>
                  <a:srgbClr val="474947"/>
                </a:solidFill>
              </a:defRPr>
            </a:lvl4pPr>
            <a:lvl5pPr marL="2304105" indent="0">
              <a:buFont typeface="Wingdings" charset="2"/>
              <a:buNone/>
              <a:defRPr>
                <a:solidFill>
                  <a:srgbClr val="474947"/>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90547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361038" y="1439863"/>
            <a:ext cx="5397726" cy="4679950"/>
          </a:xfrm>
        </p:spPr>
        <p:txBody>
          <a:bodyPr rIns="180000">
            <a:normAutofit/>
          </a:bodyPr>
          <a:lstStyle>
            <a:lvl1pPr>
              <a:defRPr sz="2800"/>
            </a:lvl1pPr>
            <a:lvl2pPr>
              <a:defRPr sz="2400"/>
            </a:lvl2pPr>
            <a:lvl3pPr>
              <a:defRPr sz="2000"/>
            </a:lvl3pPr>
            <a:lvl4pPr>
              <a:defRPr sz="1800"/>
            </a:lvl4pPr>
            <a:lvl5pPr>
              <a:defRPr sz="1800"/>
            </a:lvl5pPr>
            <a:lvl6pPr>
              <a:defRPr sz="2268"/>
            </a:lvl6pPr>
            <a:lvl7pPr>
              <a:defRPr sz="2268"/>
            </a:lvl7pPr>
            <a:lvl8pPr>
              <a:defRPr sz="2268"/>
            </a:lvl8pPr>
            <a:lvl9pPr>
              <a:defRPr sz="226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5761038" y="1439863"/>
            <a:ext cx="5399087" cy="4679950"/>
          </a:xfrm>
        </p:spPr>
        <p:txBody>
          <a:bodyPr lIns="180000">
            <a:normAutofit/>
          </a:bodyPr>
          <a:lstStyle>
            <a:lvl1pPr>
              <a:defRPr sz="2800"/>
            </a:lvl1pPr>
            <a:lvl2pPr>
              <a:defRPr sz="2400"/>
            </a:lvl2pPr>
            <a:lvl3pPr>
              <a:defRPr sz="2000"/>
            </a:lvl3pPr>
            <a:lvl4pPr>
              <a:defRPr sz="1800"/>
            </a:lvl4pPr>
            <a:lvl5pPr>
              <a:defRPr sz="1800"/>
            </a:lvl5pPr>
            <a:lvl6pPr>
              <a:defRPr sz="2268"/>
            </a:lvl6pPr>
            <a:lvl7pPr>
              <a:defRPr sz="2268"/>
            </a:lvl7pPr>
            <a:lvl8pPr>
              <a:defRPr sz="2268"/>
            </a:lvl8pPr>
            <a:lvl9pPr>
              <a:defRPr sz="226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298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986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w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1038" y="360363"/>
            <a:ext cx="10800000" cy="720000"/>
          </a:xfrm>
          <a:prstGeom prst="rect">
            <a:avLst/>
          </a:prstGeom>
        </p:spPr>
        <p:txBody>
          <a:bodyPr vert="horz" lIns="0" tIns="0" rIns="0" bIns="0" rtlCol="0" anchor="ctr">
            <a:noAutofit/>
          </a:bodyPr>
          <a:lstStyle/>
          <a:p>
            <a:r>
              <a:rPr lang="en-US" dirty="0"/>
              <a:t>Click to edit Master title style</a:t>
            </a:r>
          </a:p>
        </p:txBody>
      </p:sp>
      <p:sp>
        <p:nvSpPr>
          <p:cNvPr id="3" name="Text Placeholder 2"/>
          <p:cNvSpPr>
            <a:spLocks noGrp="1"/>
          </p:cNvSpPr>
          <p:nvPr>
            <p:ph type="body" idx="1"/>
          </p:nvPr>
        </p:nvSpPr>
        <p:spPr>
          <a:xfrm>
            <a:off x="360125" y="1439813"/>
            <a:ext cx="10800000" cy="4680000"/>
          </a:xfrm>
          <a:prstGeom prst="rect">
            <a:avLst/>
          </a:prstGeom>
        </p:spPr>
        <p:txBody>
          <a:bodyPr vert="horz" lIns="0" tIns="0" rIns="0" bIns="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p:cNvSpPr txBox="1"/>
          <p:nvPr userDrawn="1"/>
        </p:nvSpPr>
        <p:spPr>
          <a:xfrm>
            <a:off x="1587525" y="1153073"/>
            <a:ext cx="184731" cy="441339"/>
          </a:xfrm>
          <a:prstGeom prst="rect">
            <a:avLst/>
          </a:prstGeom>
          <a:noFill/>
        </p:spPr>
        <p:txBody>
          <a:bodyPr wrap="none" rtlCol="0">
            <a:spAutoFit/>
          </a:bodyPr>
          <a:lstStyle/>
          <a:p>
            <a:endParaRPr lang="en-US" sz="2268" dirty="0"/>
          </a:p>
        </p:txBody>
      </p:sp>
      <p:graphicFrame>
        <p:nvGraphicFramePr>
          <p:cNvPr id="9" name="Object 8"/>
          <p:cNvGraphicFramePr>
            <a:graphicFrameLocks noChangeAspect="1"/>
          </p:cNvGraphicFramePr>
          <p:nvPr userDrawn="1">
            <p:extLst>
              <p:ext uri="{D42A27DB-BD31-4B8C-83A1-F6EECF244321}">
                <p14:modId xmlns:p14="http://schemas.microsoft.com/office/powerpoint/2010/main" val="1855242954"/>
              </p:ext>
            </p:extLst>
          </p:nvPr>
        </p:nvGraphicFramePr>
        <p:xfrm>
          <a:off x="10713600" y="5940175"/>
          <a:ext cx="626616" cy="360000"/>
        </p:xfrm>
        <a:graphic>
          <a:graphicData uri="http://schemas.openxmlformats.org/presentationml/2006/ole">
            <mc:AlternateContent xmlns:mc="http://schemas.openxmlformats.org/markup-compatibility/2006">
              <mc:Choice xmlns:v="urn:schemas-microsoft-com:vml" Requires="v">
                <p:oleObj spid="_x0000_s1036" name="Image" r:id="rId10" imgW="2279520" imgH="1310400" progId="Photoshop.Image.18">
                  <p:embed/>
                </p:oleObj>
              </mc:Choice>
              <mc:Fallback>
                <p:oleObj name="Image" r:id="rId10" imgW="2279520" imgH="1310400" progId="Photoshop.Image.18">
                  <p:embed/>
                  <p:pic>
                    <p:nvPicPr>
                      <p:cNvPr id="9" name="Object 8"/>
                      <p:cNvPicPr/>
                      <p:nvPr/>
                    </p:nvPicPr>
                    <p:blipFill>
                      <a:blip r:embed="rId11"/>
                      <a:stretch>
                        <a:fillRect/>
                      </a:stretch>
                    </p:blipFill>
                    <p:spPr>
                      <a:xfrm>
                        <a:off x="10713600" y="5940175"/>
                        <a:ext cx="626616" cy="360000"/>
                      </a:xfrm>
                      <a:prstGeom prst="rect">
                        <a:avLst/>
                      </a:prstGeom>
                    </p:spPr>
                  </p:pic>
                </p:oleObj>
              </mc:Fallback>
            </mc:AlternateContent>
          </a:graphicData>
        </a:graphic>
      </p:graphicFrame>
    </p:spTree>
    <p:extLst>
      <p:ext uri="{BB962C8B-B14F-4D97-AF65-F5344CB8AC3E}">
        <p14:creationId xmlns:p14="http://schemas.microsoft.com/office/powerpoint/2010/main" val="51776669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4" r:id="rId4"/>
    <p:sldLayoutId id="2147483656" r:id="rId5"/>
    <p:sldLayoutId id="2147483652" r:id="rId6"/>
    <p:sldLayoutId id="2147483655" r:id="rId7"/>
  </p:sldLayoutIdLst>
  <p:txStyles>
    <p:titleStyle>
      <a:lvl1pPr algn="l" defTabSz="576026" rtl="0" eaLnBrk="1" latinLnBrk="0" hangingPunct="1">
        <a:spcBef>
          <a:spcPct val="0"/>
        </a:spcBef>
        <a:buNone/>
        <a:defRPr sz="4400" kern="1200">
          <a:solidFill>
            <a:schemeClr val="accent1"/>
          </a:solidFill>
          <a:latin typeface="+mj-lt"/>
          <a:ea typeface="+mj-ea"/>
          <a:cs typeface="+mj-cs"/>
        </a:defRPr>
      </a:lvl1pPr>
    </p:titleStyle>
    <p:bodyStyle>
      <a:lvl1pPr marL="0" indent="0" algn="l" defTabSz="576026" rtl="0" eaLnBrk="1" latinLnBrk="0" hangingPunct="1">
        <a:spcBef>
          <a:spcPct val="20000"/>
        </a:spcBef>
        <a:buFont typeface="Wingdings" charset="2"/>
        <a:buNone/>
        <a:defRPr sz="3600" kern="1200">
          <a:solidFill>
            <a:schemeClr val="tx2"/>
          </a:solidFill>
          <a:latin typeface="+mn-lt"/>
          <a:ea typeface="+mn-ea"/>
          <a:cs typeface="+mn-cs"/>
        </a:defRPr>
      </a:lvl1pPr>
      <a:lvl2pPr marL="576027" indent="0" algn="l" defTabSz="576026" rtl="0" eaLnBrk="1" latinLnBrk="0" hangingPunct="1">
        <a:spcBef>
          <a:spcPct val="20000"/>
        </a:spcBef>
        <a:buFont typeface="Wingdings" charset="2"/>
        <a:buNone/>
        <a:defRPr sz="3200" kern="1200">
          <a:solidFill>
            <a:schemeClr val="tx2"/>
          </a:solidFill>
          <a:latin typeface="+mn-lt"/>
          <a:ea typeface="+mn-ea"/>
          <a:cs typeface="+mn-cs"/>
        </a:defRPr>
      </a:lvl2pPr>
      <a:lvl3pPr marL="1152053" indent="0" algn="l" defTabSz="576026" rtl="0" eaLnBrk="1" latinLnBrk="0" hangingPunct="1">
        <a:spcBef>
          <a:spcPct val="20000"/>
        </a:spcBef>
        <a:buFont typeface="Wingdings" charset="2"/>
        <a:buNone/>
        <a:defRPr sz="2400" kern="1200">
          <a:solidFill>
            <a:schemeClr val="tx2"/>
          </a:solidFill>
          <a:latin typeface="+mn-lt"/>
          <a:ea typeface="+mn-ea"/>
          <a:cs typeface="+mn-cs"/>
        </a:defRPr>
      </a:lvl3pPr>
      <a:lvl4pPr marL="1728079" indent="0" algn="l" defTabSz="576026" rtl="0" eaLnBrk="1" latinLnBrk="0" hangingPunct="1">
        <a:spcBef>
          <a:spcPct val="20000"/>
        </a:spcBef>
        <a:buFont typeface="Wingdings" charset="2"/>
        <a:buNone/>
        <a:defRPr sz="2400" kern="1200">
          <a:solidFill>
            <a:schemeClr val="tx2"/>
          </a:solidFill>
          <a:latin typeface="+mn-lt"/>
          <a:ea typeface="+mn-ea"/>
          <a:cs typeface="+mn-cs"/>
        </a:defRPr>
      </a:lvl4pPr>
      <a:lvl5pPr marL="2304105" indent="0" algn="l" defTabSz="576026" rtl="0" eaLnBrk="1" latinLnBrk="0" hangingPunct="1">
        <a:spcBef>
          <a:spcPct val="20000"/>
        </a:spcBef>
        <a:buFont typeface="Wingdings" charset="2"/>
        <a:buNone/>
        <a:defRPr sz="2000" kern="1200">
          <a:solidFill>
            <a:schemeClr val="tx2"/>
          </a:solidFill>
          <a:latin typeface="+mn-lt"/>
          <a:ea typeface="+mn-ea"/>
          <a:cs typeface="+mn-cs"/>
        </a:defRPr>
      </a:lvl5pPr>
      <a:lvl6pPr marL="3168145" indent="-288013" algn="l" defTabSz="576026" rtl="0" eaLnBrk="1" latinLnBrk="0" hangingPunct="1">
        <a:spcBef>
          <a:spcPct val="20000"/>
        </a:spcBef>
        <a:buFont typeface="Arial"/>
        <a:buChar char="•"/>
        <a:defRPr sz="2520" kern="1200">
          <a:solidFill>
            <a:schemeClr val="tx1"/>
          </a:solidFill>
          <a:latin typeface="+mn-lt"/>
          <a:ea typeface="+mn-ea"/>
          <a:cs typeface="+mn-cs"/>
        </a:defRPr>
      </a:lvl6pPr>
      <a:lvl7pPr marL="3744171" indent="-288013" algn="l" defTabSz="576026" rtl="0" eaLnBrk="1" latinLnBrk="0" hangingPunct="1">
        <a:spcBef>
          <a:spcPct val="20000"/>
        </a:spcBef>
        <a:buFont typeface="Arial"/>
        <a:buChar char="•"/>
        <a:defRPr sz="2520" kern="1200">
          <a:solidFill>
            <a:schemeClr val="tx1"/>
          </a:solidFill>
          <a:latin typeface="+mn-lt"/>
          <a:ea typeface="+mn-ea"/>
          <a:cs typeface="+mn-cs"/>
        </a:defRPr>
      </a:lvl7pPr>
      <a:lvl8pPr marL="4320197" indent="-288013" algn="l" defTabSz="576026" rtl="0" eaLnBrk="1" latinLnBrk="0" hangingPunct="1">
        <a:spcBef>
          <a:spcPct val="20000"/>
        </a:spcBef>
        <a:buFont typeface="Arial"/>
        <a:buChar char="•"/>
        <a:defRPr sz="2520" kern="1200">
          <a:solidFill>
            <a:schemeClr val="tx1"/>
          </a:solidFill>
          <a:latin typeface="+mn-lt"/>
          <a:ea typeface="+mn-ea"/>
          <a:cs typeface="+mn-cs"/>
        </a:defRPr>
      </a:lvl8pPr>
      <a:lvl9pPr marL="4896223" indent="-288013" algn="l" defTabSz="576026" rtl="0" eaLnBrk="1" latinLnBrk="0" hangingPunct="1">
        <a:spcBef>
          <a:spcPct val="20000"/>
        </a:spcBef>
        <a:buFont typeface="Arial"/>
        <a:buChar char="•"/>
        <a:defRPr sz="2520" kern="1200">
          <a:solidFill>
            <a:schemeClr val="tx1"/>
          </a:solidFill>
          <a:latin typeface="+mn-lt"/>
          <a:ea typeface="+mn-ea"/>
          <a:cs typeface="+mn-cs"/>
        </a:defRPr>
      </a:lvl9pPr>
    </p:bodyStyle>
    <p:otherStyle>
      <a:defPPr>
        <a:defRPr lang="en-US"/>
      </a:defPPr>
      <a:lvl1pPr marL="0" algn="l" defTabSz="576026" rtl="0" eaLnBrk="1" latinLnBrk="0" hangingPunct="1">
        <a:defRPr sz="2268" kern="1200">
          <a:solidFill>
            <a:schemeClr val="tx1"/>
          </a:solidFill>
          <a:latin typeface="+mn-lt"/>
          <a:ea typeface="+mn-ea"/>
          <a:cs typeface="+mn-cs"/>
        </a:defRPr>
      </a:lvl1pPr>
      <a:lvl2pPr marL="576026" algn="l" defTabSz="576026" rtl="0" eaLnBrk="1" latinLnBrk="0" hangingPunct="1">
        <a:defRPr sz="2268" kern="1200">
          <a:solidFill>
            <a:schemeClr val="tx1"/>
          </a:solidFill>
          <a:latin typeface="+mn-lt"/>
          <a:ea typeface="+mn-ea"/>
          <a:cs typeface="+mn-cs"/>
        </a:defRPr>
      </a:lvl2pPr>
      <a:lvl3pPr marL="1152053" algn="l" defTabSz="576026" rtl="0" eaLnBrk="1" latinLnBrk="0" hangingPunct="1">
        <a:defRPr sz="2268" kern="1200">
          <a:solidFill>
            <a:schemeClr val="tx1"/>
          </a:solidFill>
          <a:latin typeface="+mn-lt"/>
          <a:ea typeface="+mn-ea"/>
          <a:cs typeface="+mn-cs"/>
        </a:defRPr>
      </a:lvl3pPr>
      <a:lvl4pPr marL="1728079" algn="l" defTabSz="576026" rtl="0" eaLnBrk="1" latinLnBrk="0" hangingPunct="1">
        <a:defRPr sz="2268" kern="1200">
          <a:solidFill>
            <a:schemeClr val="tx1"/>
          </a:solidFill>
          <a:latin typeface="+mn-lt"/>
          <a:ea typeface="+mn-ea"/>
          <a:cs typeface="+mn-cs"/>
        </a:defRPr>
      </a:lvl4pPr>
      <a:lvl5pPr marL="2304105" algn="l" defTabSz="576026" rtl="0" eaLnBrk="1" latinLnBrk="0" hangingPunct="1">
        <a:defRPr sz="2268" kern="1200">
          <a:solidFill>
            <a:schemeClr val="tx1"/>
          </a:solidFill>
          <a:latin typeface="+mn-lt"/>
          <a:ea typeface="+mn-ea"/>
          <a:cs typeface="+mn-cs"/>
        </a:defRPr>
      </a:lvl5pPr>
      <a:lvl6pPr marL="2880131" algn="l" defTabSz="576026" rtl="0" eaLnBrk="1" latinLnBrk="0" hangingPunct="1">
        <a:defRPr sz="2268" kern="1200">
          <a:solidFill>
            <a:schemeClr val="tx1"/>
          </a:solidFill>
          <a:latin typeface="+mn-lt"/>
          <a:ea typeface="+mn-ea"/>
          <a:cs typeface="+mn-cs"/>
        </a:defRPr>
      </a:lvl6pPr>
      <a:lvl7pPr marL="3456158" algn="l" defTabSz="576026" rtl="0" eaLnBrk="1" latinLnBrk="0" hangingPunct="1">
        <a:defRPr sz="2268" kern="1200">
          <a:solidFill>
            <a:schemeClr val="tx1"/>
          </a:solidFill>
          <a:latin typeface="+mn-lt"/>
          <a:ea typeface="+mn-ea"/>
          <a:cs typeface="+mn-cs"/>
        </a:defRPr>
      </a:lvl7pPr>
      <a:lvl8pPr marL="4032184" algn="l" defTabSz="576026" rtl="0" eaLnBrk="1" latinLnBrk="0" hangingPunct="1">
        <a:defRPr sz="2268" kern="1200">
          <a:solidFill>
            <a:schemeClr val="tx1"/>
          </a:solidFill>
          <a:latin typeface="+mn-lt"/>
          <a:ea typeface="+mn-ea"/>
          <a:cs typeface="+mn-cs"/>
        </a:defRPr>
      </a:lvl8pPr>
      <a:lvl9pPr marL="4608210" algn="l" defTabSz="576026" rtl="0" eaLnBrk="1" latinLnBrk="0" hangingPunct="1">
        <a:defRPr sz="2268"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381" userDrawn="1">
          <p15:clr>
            <a:srgbClr val="F26B43"/>
          </p15:clr>
        </p15:guide>
        <p15:guide id="2" pos="3629" userDrawn="1">
          <p15:clr>
            <a:srgbClr val="F26B43"/>
          </p15:clr>
        </p15:guide>
        <p15:guide id="3" pos="7030" userDrawn="1">
          <p15:clr>
            <a:srgbClr val="F26B43"/>
          </p15:clr>
        </p15:guide>
        <p15:guide id="4" pos="227" userDrawn="1">
          <p15:clr>
            <a:srgbClr val="F26B43"/>
          </p15:clr>
        </p15:guide>
        <p15:guide id="5" orient="horz" pos="227" userDrawn="1">
          <p15:clr>
            <a:srgbClr val="F26B43"/>
          </p15:clr>
        </p15:guide>
        <p15:guide id="7" orient="horz" pos="680" userDrawn="1">
          <p15:clr>
            <a:srgbClr val="F26B43"/>
          </p15:clr>
        </p15:guide>
        <p15:guide id="8" orient="horz" pos="907" userDrawn="1">
          <p15:clr>
            <a:srgbClr val="F26B43"/>
          </p15:clr>
        </p15:guide>
        <p15:guide id="9" orient="horz" pos="3855" userDrawn="1">
          <p15:clr>
            <a:srgbClr val="F26B43"/>
          </p15:clr>
        </p15:guide>
        <p15:guide id="10" orient="horz" pos="204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rohnedwards/DatabaseReporter"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rohnspowershellblog.wordpress.com/" TargetMode="External"/><Relationship Id="rId7" Type="http://schemas.openxmlformats.org/officeDocument/2006/relationships/hyperlink" Target="http://www.mspsug.com/"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github.com/rohnedwards" TargetMode="External"/><Relationship Id="rId5" Type="http://schemas.openxmlformats.org/officeDocument/2006/relationships/hyperlink" Target="https://www.linkedin.com/in/rohn-edwards-417290134/" TargetMode="External"/><Relationship Id="rId4" Type="http://schemas.openxmlformats.org/officeDocument/2006/relationships/hyperlink" Target="https://twitter.com/magicroh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Advanced PowerShell Database Reporting Tools (for Beginners)</a:t>
            </a:r>
            <a:endParaRPr lang="en-US" dirty="0"/>
          </a:p>
        </p:txBody>
      </p:sp>
      <p:sp>
        <p:nvSpPr>
          <p:cNvPr id="3" name="Text Placeholder 2"/>
          <p:cNvSpPr>
            <a:spLocks noGrp="1"/>
          </p:cNvSpPr>
          <p:nvPr>
            <p:ph type="body" sz="quarter" idx="10"/>
          </p:nvPr>
        </p:nvSpPr>
        <p:spPr/>
        <p:txBody>
          <a:bodyPr/>
          <a:lstStyle/>
          <a:p>
            <a:r>
              <a:rPr lang="en-US" dirty="0" smtClean="0"/>
              <a:t>Rohn Edwards</a:t>
            </a:r>
            <a:endParaRPr lang="en-US" dirty="0"/>
          </a:p>
        </p:txBody>
      </p:sp>
    </p:spTree>
    <p:extLst>
      <p:ext uri="{BB962C8B-B14F-4D97-AF65-F5344CB8AC3E}">
        <p14:creationId xmlns:p14="http://schemas.microsoft.com/office/powerpoint/2010/main" val="39478864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smtClean="0"/>
              <a:t>What are Reporting Tools?</a:t>
            </a:r>
            <a:endParaRPr lang="en-US" dirty="0"/>
          </a:p>
        </p:txBody>
      </p:sp>
      <p:sp>
        <p:nvSpPr>
          <p:cNvPr id="19" name="Content Placeholder 18"/>
          <p:cNvSpPr>
            <a:spLocks noGrp="1"/>
          </p:cNvSpPr>
          <p:nvPr>
            <p:ph idx="1"/>
          </p:nvPr>
        </p:nvSpPr>
        <p:spPr/>
        <p:txBody>
          <a:bodyPr>
            <a:normAutofit/>
          </a:bodyPr>
          <a:lstStyle/>
          <a:p>
            <a:pPr marL="571500" indent="-571500">
              <a:buFont typeface="Arial" panose="020B0604020202020204" pitchFamily="34" charset="0"/>
              <a:buChar char="•"/>
            </a:pPr>
            <a:r>
              <a:rPr lang="en-US" dirty="0" smtClean="0"/>
              <a:t>PowerShell commands that:</a:t>
            </a:r>
          </a:p>
          <a:p>
            <a:pPr marL="1147527" lvl="1" indent="-571500">
              <a:buFont typeface="Arial" panose="020B0604020202020204" pitchFamily="34" charset="0"/>
              <a:buChar char="•"/>
            </a:pPr>
            <a:r>
              <a:rPr lang="en-US" dirty="0" smtClean="0"/>
              <a:t>Generate SQL queries on the fly</a:t>
            </a:r>
          </a:p>
          <a:p>
            <a:pPr marL="1147527" lvl="1" indent="-571500">
              <a:buFont typeface="Arial" panose="020B0604020202020204" pitchFamily="34" charset="0"/>
              <a:buChar char="•"/>
            </a:pPr>
            <a:r>
              <a:rPr lang="en-US" dirty="0" smtClean="0"/>
              <a:t>Each row is returned as a PS object</a:t>
            </a:r>
          </a:p>
          <a:p>
            <a:pPr marL="1147527" lvl="1" indent="-571500">
              <a:buFont typeface="Arial" panose="020B0604020202020204" pitchFamily="34" charset="0"/>
              <a:buChar char="•"/>
            </a:pPr>
            <a:r>
              <a:rPr lang="en-US" dirty="0" smtClean="0"/>
              <a:t>Parameters change query behavior</a:t>
            </a:r>
          </a:p>
          <a:p>
            <a:pPr marL="1723553" lvl="2" indent="-571500">
              <a:buFont typeface="Arial" panose="020B0604020202020204" pitchFamily="34" charset="0"/>
              <a:buChar char="•"/>
            </a:pPr>
            <a:r>
              <a:rPr lang="en-US" dirty="0" smtClean="0"/>
              <a:t>Filtering</a:t>
            </a:r>
          </a:p>
          <a:p>
            <a:pPr marL="1723553" lvl="2" indent="-571500">
              <a:buFont typeface="Arial" panose="020B0604020202020204" pitchFamily="34" charset="0"/>
              <a:buChar char="•"/>
            </a:pPr>
            <a:r>
              <a:rPr lang="en-US" dirty="0" smtClean="0"/>
              <a:t>Grouping</a:t>
            </a:r>
          </a:p>
          <a:p>
            <a:pPr marL="1723553" lvl="2" indent="-571500">
              <a:buFont typeface="Arial" panose="020B0604020202020204" pitchFamily="34" charset="0"/>
              <a:buChar char="•"/>
            </a:pPr>
            <a:r>
              <a:rPr lang="en-US" dirty="0" smtClean="0"/>
              <a:t>Ordering</a:t>
            </a:r>
            <a:endParaRPr lang="en-US" dirty="0"/>
          </a:p>
          <a:p>
            <a:pPr marL="571500" indent="-571500">
              <a:buFont typeface="Arial" panose="020B0604020202020204" pitchFamily="34" charset="0"/>
              <a:buChar char="•"/>
            </a:pPr>
            <a:r>
              <a:rPr lang="en-US" dirty="0" smtClean="0"/>
              <a:t>Can be created with metadata only</a:t>
            </a:r>
          </a:p>
        </p:txBody>
      </p:sp>
    </p:spTree>
    <p:extLst>
      <p:ext uri="{BB962C8B-B14F-4D97-AF65-F5344CB8AC3E}">
        <p14:creationId xmlns:p14="http://schemas.microsoft.com/office/powerpoint/2010/main" val="388021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anim calcmode="lin" valueType="num">
                                      <p:cBhvr additive="base">
                                        <p:cTn id="11"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 calcmode="lin" valueType="num">
                                      <p:cBhvr additive="base">
                                        <p:cTn id="17"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
                                            <p:txEl>
                                              <p:pRg st="3" end="3"/>
                                            </p:txEl>
                                          </p:spTgt>
                                        </p:tgtEl>
                                        <p:attrNameLst>
                                          <p:attrName>style.visibility</p:attrName>
                                        </p:attrNameLst>
                                      </p:cBhvr>
                                      <p:to>
                                        <p:strVal val="visible"/>
                                      </p:to>
                                    </p:set>
                                    <p:anim calcmode="lin" valueType="num">
                                      <p:cBhvr additive="base">
                                        <p:cTn id="23"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xEl>
                                              <p:pRg st="4" end="4"/>
                                            </p:txEl>
                                          </p:spTgt>
                                        </p:tgtEl>
                                        <p:attrNameLst>
                                          <p:attrName>style.visibility</p:attrName>
                                        </p:attrNameLst>
                                      </p:cBhvr>
                                      <p:to>
                                        <p:strVal val="visible"/>
                                      </p:to>
                                    </p:set>
                                    <p:anim calcmode="lin" valueType="num">
                                      <p:cBhvr additive="base">
                                        <p:cTn id="27"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xEl>
                                              <p:pRg st="5" end="5"/>
                                            </p:txEl>
                                          </p:spTgt>
                                        </p:tgtEl>
                                        <p:attrNameLst>
                                          <p:attrName>style.visibility</p:attrName>
                                        </p:attrNameLst>
                                      </p:cBhvr>
                                      <p:to>
                                        <p:strVal val="visible"/>
                                      </p:to>
                                    </p:set>
                                    <p:anim calcmode="lin" valueType="num">
                                      <p:cBhvr additive="base">
                                        <p:cTn id="31" dur="500" fill="hold"/>
                                        <p:tgtEl>
                                          <p:spTgt spid="1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xEl>
                                              <p:pRg st="6" end="6"/>
                                            </p:txEl>
                                          </p:spTgt>
                                        </p:tgtEl>
                                        <p:attrNameLst>
                                          <p:attrName>style.visibility</p:attrName>
                                        </p:attrNameLst>
                                      </p:cBhvr>
                                      <p:to>
                                        <p:strVal val="visible"/>
                                      </p:to>
                                    </p:set>
                                    <p:anim calcmode="lin" valueType="num">
                                      <p:cBhvr additive="base">
                                        <p:cTn id="35"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
                                            <p:txEl>
                                              <p:pRg st="7" end="7"/>
                                            </p:txEl>
                                          </p:spTgt>
                                        </p:tgtEl>
                                        <p:attrNameLst>
                                          <p:attrName>style.visibility</p:attrName>
                                        </p:attrNameLst>
                                      </p:cBhvr>
                                      <p:to>
                                        <p:strVal val="visible"/>
                                      </p:to>
                                    </p:set>
                                    <p:anim calcmode="lin" valueType="num">
                                      <p:cBhvr additive="base">
                                        <p:cTn id="41" dur="500" fill="hold"/>
                                        <p:tgtEl>
                                          <p:spTgt spid="1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PowerShell Advantages</a:t>
            </a:r>
            <a:endParaRPr lang="en-US" dirty="0"/>
          </a:p>
        </p:txBody>
      </p:sp>
      <p:sp>
        <p:nvSpPr>
          <p:cNvPr id="3" name="Content Placeholder 2"/>
          <p:cNvSpPr>
            <a:spLocks noGrp="1"/>
          </p:cNvSpPr>
          <p:nvPr>
            <p:ph idx="1"/>
          </p:nvPr>
        </p:nvSpPr>
        <p:spPr/>
        <p:txBody>
          <a:bodyPr>
            <a:normAutofit fontScale="92500" lnSpcReduction="10000"/>
          </a:bodyPr>
          <a:lstStyle/>
          <a:p>
            <a:pPr marL="571500" indent="-571500">
              <a:buFont typeface="Arial" panose="020B0604020202020204" pitchFamily="34" charset="0"/>
              <a:buChar char="•"/>
            </a:pPr>
            <a:r>
              <a:rPr lang="en-US" dirty="0" smtClean="0"/>
              <a:t>Utility commands allow further filtering, grouping, ordering</a:t>
            </a:r>
          </a:p>
          <a:p>
            <a:pPr marL="571500" indent="-571500">
              <a:buFont typeface="Arial" panose="020B0604020202020204" pitchFamily="34" charset="0"/>
              <a:buChar char="•"/>
            </a:pPr>
            <a:r>
              <a:rPr lang="en-US" dirty="0" smtClean="0"/>
              <a:t>Output can be converted to other formats, e.g., XML, CSV, JSON, XLSX</a:t>
            </a:r>
          </a:p>
          <a:p>
            <a:pPr marL="571500" indent="-571500">
              <a:buFont typeface="Arial" panose="020B0604020202020204" pitchFamily="34" charset="0"/>
              <a:buChar char="•"/>
            </a:pPr>
            <a:r>
              <a:rPr lang="en-US" dirty="0" smtClean="0"/>
              <a:t>Commands can be logically grouped in modules that abstract DB connection details</a:t>
            </a:r>
          </a:p>
          <a:p>
            <a:pPr marL="1147527" lvl="1" indent="-571500">
              <a:buFont typeface="Arial" panose="020B0604020202020204" pitchFamily="34" charset="0"/>
              <a:buChar char="•"/>
            </a:pPr>
            <a:r>
              <a:rPr lang="en-US" dirty="0" smtClean="0"/>
              <a:t>Access all the DBs!</a:t>
            </a:r>
          </a:p>
          <a:p>
            <a:pPr marL="1147527" lvl="1" indent="-571500">
              <a:buFont typeface="Arial" panose="020B0604020202020204" pitchFamily="34" charset="0"/>
              <a:buChar char="•"/>
            </a:pPr>
            <a:r>
              <a:rPr lang="en-US" dirty="0" smtClean="0"/>
              <a:t>PS remoting and constrained endpoints could allow for limited DB viewing abilities</a:t>
            </a:r>
          </a:p>
        </p:txBody>
      </p:sp>
    </p:spTree>
    <p:extLst>
      <p:ext uri="{BB962C8B-B14F-4D97-AF65-F5344CB8AC3E}">
        <p14:creationId xmlns:p14="http://schemas.microsoft.com/office/powerpoint/2010/main" val="418049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DatabaseReporter</a:t>
            </a:r>
            <a:r>
              <a:rPr lang="en-US" dirty="0" smtClean="0"/>
              <a:t> Engine</a:t>
            </a:r>
            <a:endParaRPr lang="en-US" dirty="0"/>
          </a:p>
        </p:txBody>
      </p:sp>
      <p:sp>
        <p:nvSpPr>
          <p:cNvPr id="3" name="Content Placeholder 2"/>
          <p:cNvSpPr>
            <a:spLocks noGrp="1"/>
          </p:cNvSpPr>
          <p:nvPr>
            <p:ph idx="1"/>
          </p:nvPr>
        </p:nvSpPr>
        <p:spPr/>
        <p:txBody>
          <a:bodyPr>
            <a:normAutofit lnSpcReduction="10000"/>
          </a:bodyPr>
          <a:lstStyle/>
          <a:p>
            <a:pPr marL="571500" indent="-571500">
              <a:buFont typeface="Arial" panose="020B0604020202020204" pitchFamily="34" charset="0"/>
              <a:buChar char="•"/>
            </a:pPr>
            <a:r>
              <a:rPr lang="en-US" dirty="0" smtClean="0">
                <a:hlinkClick r:id="rId3"/>
              </a:rPr>
              <a:t>github.com/</a:t>
            </a:r>
            <a:r>
              <a:rPr lang="en-US" dirty="0" err="1" smtClean="0">
                <a:hlinkClick r:id="rId3"/>
              </a:rPr>
              <a:t>rohnedwards</a:t>
            </a:r>
            <a:r>
              <a:rPr lang="en-US" dirty="0" smtClean="0">
                <a:hlinkClick r:id="rId3"/>
              </a:rPr>
              <a:t>/</a:t>
            </a:r>
            <a:r>
              <a:rPr lang="en-US" dirty="0" err="1" smtClean="0">
                <a:hlinkClick r:id="rId3"/>
              </a:rPr>
              <a:t>DatabaseReporter</a:t>
            </a:r>
            <a:endParaRPr lang="en-US" dirty="0" smtClean="0"/>
          </a:p>
          <a:p>
            <a:pPr marL="571500" indent="-571500">
              <a:buFont typeface="Arial" panose="020B0604020202020204" pitchFamily="34" charset="0"/>
              <a:buChar char="•"/>
            </a:pPr>
            <a:r>
              <a:rPr lang="en-US" dirty="0" smtClean="0"/>
              <a:t>Allows command creation with almost no PowerShell </a:t>
            </a:r>
            <a:r>
              <a:rPr lang="en-US" dirty="0" smtClean="0"/>
              <a:t>code</a:t>
            </a:r>
          </a:p>
          <a:p>
            <a:pPr marL="571500" indent="-571500">
              <a:buFont typeface="Arial" panose="020B0604020202020204" pitchFamily="34" charset="0"/>
              <a:buChar char="•"/>
            </a:pPr>
            <a:r>
              <a:rPr lang="en-US" dirty="0" smtClean="0"/>
              <a:t>Requirements:</a:t>
            </a:r>
          </a:p>
          <a:p>
            <a:pPr marL="1147527" lvl="1" indent="-571500">
              <a:buFont typeface="Arial" panose="020B0604020202020204" pitchFamily="34" charset="0"/>
              <a:buChar char="•"/>
            </a:pPr>
            <a:r>
              <a:rPr lang="en-US" dirty="0" err="1" smtClean="0"/>
              <a:t>DbConnection</a:t>
            </a:r>
            <a:r>
              <a:rPr lang="en-US" dirty="0" smtClean="0"/>
              <a:t> .NET interface (SQL Server has this)</a:t>
            </a:r>
            <a:endParaRPr lang="en-US" dirty="0" smtClean="0"/>
          </a:p>
          <a:p>
            <a:pPr marL="1147527" lvl="1" indent="-571500">
              <a:buFont typeface="Arial" panose="020B0604020202020204" pitchFamily="34" charset="0"/>
              <a:buChar char="•"/>
            </a:pPr>
            <a:r>
              <a:rPr lang="en-US" dirty="0" smtClean="0"/>
              <a:t>Valid connection string to connect to DB</a:t>
            </a:r>
            <a:endParaRPr lang="en-US" dirty="0" smtClean="0"/>
          </a:p>
          <a:p>
            <a:pPr marL="1147527" lvl="1" indent="-571500">
              <a:buFont typeface="Arial" panose="020B0604020202020204" pitchFamily="34" charset="0"/>
              <a:buChar char="•"/>
            </a:pPr>
            <a:r>
              <a:rPr lang="en-US" dirty="0" smtClean="0"/>
              <a:t>Useful SQL query to base command off of</a:t>
            </a:r>
          </a:p>
          <a:p>
            <a:pPr marL="1147527" lvl="1" indent="-571500">
              <a:buFont typeface="Arial" panose="020B0604020202020204" pitchFamily="34" charset="0"/>
              <a:buChar char="•"/>
            </a:pPr>
            <a:r>
              <a:rPr lang="en-US" dirty="0" smtClean="0"/>
              <a:t>Boilerplate command syntax</a:t>
            </a:r>
            <a:endParaRPr lang="en-US" dirty="0" smtClean="0"/>
          </a:p>
          <a:p>
            <a:pPr marL="571500" indent="-571500">
              <a:buFont typeface="Arial" panose="020B0604020202020204" pitchFamily="34" charset="0"/>
              <a:buChar char="•"/>
            </a:pPr>
            <a:endParaRPr lang="en-US" dirty="0" smtClean="0"/>
          </a:p>
          <a:p>
            <a:pPr marL="571500" indent="-571500">
              <a:buFont typeface="Arial" panose="020B0604020202020204" pitchFamily="34" charset="0"/>
              <a:buChar char="•"/>
            </a:pPr>
            <a:endParaRPr lang="en-US" dirty="0" smtClean="0"/>
          </a:p>
        </p:txBody>
      </p:sp>
    </p:spTree>
    <p:extLst>
      <p:ext uri="{BB962C8B-B14F-4D97-AF65-F5344CB8AC3E}">
        <p14:creationId xmlns:p14="http://schemas.microsoft.com/office/powerpoint/2010/main" val="380479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
            </a:r>
            <a:br>
              <a:rPr lang="en-US" dirty="0" smtClean="0"/>
            </a:br>
            <a:r>
              <a:rPr lang="en-US" dirty="0" smtClean="0"/>
              <a:t>Demos</a:t>
            </a:r>
            <a:br>
              <a:rPr lang="en-US" dirty="0" smtClean="0"/>
            </a:br>
            <a:r>
              <a:rPr lang="en-US" dirty="0" smtClean="0"/>
              <a:t/>
            </a:r>
            <a:br>
              <a:rPr lang="en-US" dirty="0" smtClean="0"/>
            </a:br>
            <a:r>
              <a:rPr lang="en-US" dirty="0" smtClean="0"/>
              <a:t/>
            </a:r>
            <a:br>
              <a:rPr lang="en-US" dirty="0" smtClean="0"/>
            </a:br>
            <a:r>
              <a:rPr lang="en-US" sz="2400" dirty="0" smtClean="0"/>
              <a:t>Demo code can be found here: </a:t>
            </a:r>
            <a:r>
              <a:rPr lang="en-US" sz="2400" dirty="0" smtClean="0"/>
              <a:t>github.com/</a:t>
            </a:r>
            <a:r>
              <a:rPr lang="en-US" sz="2400" dirty="0" err="1" smtClean="0"/>
              <a:t>rohnedwards</a:t>
            </a:r>
            <a:r>
              <a:rPr lang="en-US" sz="2400" smtClean="0"/>
              <a:t>/Presentations/SqlSaturday628</a:t>
            </a:r>
            <a:endParaRPr lang="en-US" sz="2400" dirty="0"/>
          </a:p>
        </p:txBody>
      </p:sp>
    </p:spTree>
    <p:extLst>
      <p:ext uri="{BB962C8B-B14F-4D97-AF65-F5344CB8AC3E}">
        <p14:creationId xmlns:p14="http://schemas.microsoft.com/office/powerpoint/2010/main" val="148607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Info</a:t>
            </a:r>
            <a:endParaRPr lang="en-US" dirty="0"/>
          </a:p>
        </p:txBody>
      </p:sp>
      <p:sp>
        <p:nvSpPr>
          <p:cNvPr id="3" name="Content Placeholder 2"/>
          <p:cNvSpPr>
            <a:spLocks noGrp="1"/>
          </p:cNvSpPr>
          <p:nvPr>
            <p:ph idx="1"/>
          </p:nvPr>
        </p:nvSpPr>
        <p:spPr/>
        <p:txBody>
          <a:bodyPr>
            <a:normAutofit fontScale="92500" lnSpcReduction="20000"/>
          </a:bodyPr>
          <a:lstStyle/>
          <a:p>
            <a:pPr marL="571500" indent="-571500">
              <a:buFont typeface="Arial" panose="020B0604020202020204" pitchFamily="34" charset="0"/>
              <a:buChar char="•"/>
            </a:pPr>
            <a:r>
              <a:rPr lang="en-US" dirty="0"/>
              <a:t>Blog: </a:t>
            </a:r>
            <a:r>
              <a:rPr lang="en-US" dirty="0" smtClean="0">
                <a:hlinkClick r:id="rId3"/>
              </a:rPr>
              <a:t>rohnspowershellblog.wordpress.com</a:t>
            </a:r>
            <a:endParaRPr lang="en-US" dirty="0" smtClean="0"/>
          </a:p>
          <a:p>
            <a:pPr marL="571500" indent="-571500">
              <a:buFont typeface="Arial" panose="020B0604020202020204" pitchFamily="34" charset="0"/>
              <a:buChar char="•"/>
            </a:pPr>
            <a:endParaRPr lang="en-US" dirty="0" smtClean="0"/>
          </a:p>
          <a:p>
            <a:pPr marL="571500" indent="-571500">
              <a:buFont typeface="Arial" panose="020B0604020202020204" pitchFamily="34" charset="0"/>
              <a:buChar char="•"/>
            </a:pPr>
            <a:r>
              <a:rPr lang="en-US" dirty="0" smtClean="0"/>
              <a:t>Twitter: </a:t>
            </a:r>
            <a:r>
              <a:rPr lang="en-US" dirty="0" smtClean="0">
                <a:hlinkClick r:id="rId4"/>
              </a:rPr>
              <a:t>@</a:t>
            </a:r>
            <a:r>
              <a:rPr lang="en-US" dirty="0" err="1" smtClean="0">
                <a:hlinkClick r:id="rId4"/>
              </a:rPr>
              <a:t>magicrohn</a:t>
            </a:r>
            <a:endParaRPr lang="en-US" dirty="0" smtClean="0"/>
          </a:p>
          <a:p>
            <a:pPr marL="571500" indent="-571500">
              <a:buFont typeface="Arial" panose="020B0604020202020204" pitchFamily="34" charset="0"/>
              <a:buChar char="•"/>
            </a:pPr>
            <a:endParaRPr lang="en-US" dirty="0" smtClean="0"/>
          </a:p>
          <a:p>
            <a:pPr marL="571500" indent="-571500">
              <a:buFont typeface="Arial" panose="020B0604020202020204" pitchFamily="34" charset="0"/>
              <a:buChar char="•"/>
            </a:pPr>
            <a:r>
              <a:rPr lang="en-US" dirty="0" smtClean="0"/>
              <a:t>LinkedIn: </a:t>
            </a:r>
            <a:r>
              <a:rPr lang="en-US" dirty="0" smtClean="0">
                <a:hlinkClick r:id="rId5"/>
              </a:rPr>
              <a:t>linkedin.com/in/rohn-edwards-417290134/</a:t>
            </a:r>
            <a:endParaRPr lang="en-US" dirty="0" smtClean="0"/>
          </a:p>
          <a:p>
            <a:pPr marL="571500" indent="-571500">
              <a:buFont typeface="Arial" panose="020B0604020202020204" pitchFamily="34" charset="0"/>
              <a:buChar char="•"/>
            </a:pPr>
            <a:endParaRPr lang="en-US" dirty="0" smtClean="0"/>
          </a:p>
          <a:p>
            <a:pPr marL="571500" indent="-571500">
              <a:buFont typeface="Arial" panose="020B0604020202020204" pitchFamily="34" charset="0"/>
              <a:buChar char="•"/>
            </a:pPr>
            <a:r>
              <a:rPr lang="en-US" dirty="0" smtClean="0"/>
              <a:t>GitHub: </a:t>
            </a:r>
            <a:r>
              <a:rPr lang="en-US" dirty="0" smtClean="0">
                <a:hlinkClick r:id="rId6"/>
              </a:rPr>
              <a:t>github.com/</a:t>
            </a:r>
            <a:r>
              <a:rPr lang="en-US" dirty="0" err="1" smtClean="0">
                <a:hlinkClick r:id="rId6"/>
              </a:rPr>
              <a:t>rohnedwards</a:t>
            </a:r>
            <a:endParaRPr lang="en-US" dirty="0" smtClean="0"/>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smtClean="0"/>
              <a:t>User Group: </a:t>
            </a:r>
            <a:r>
              <a:rPr lang="en-US" dirty="0" smtClean="0">
                <a:hlinkClick r:id="rId7"/>
              </a:rPr>
              <a:t>www.mspsug.com</a:t>
            </a:r>
            <a:r>
              <a:rPr lang="en-US" dirty="0" smtClean="0"/>
              <a:t>	</a:t>
            </a:r>
            <a:endParaRPr lang="en-US" dirty="0" smtClean="0"/>
          </a:p>
          <a:p>
            <a:pPr marL="571500" indent="-571500">
              <a:buFont typeface="Arial" panose="020B0604020202020204" pitchFamily="34" charset="0"/>
              <a:buChar char="•"/>
            </a:pPr>
            <a:endParaRPr lang="en-US" dirty="0" smtClean="0"/>
          </a:p>
        </p:txBody>
      </p:sp>
    </p:spTree>
    <p:extLst>
      <p:ext uri="{BB962C8B-B14F-4D97-AF65-F5344CB8AC3E}">
        <p14:creationId xmlns:p14="http://schemas.microsoft.com/office/powerpoint/2010/main" val="2524086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Tree>
    <p:extLst>
      <p:ext uri="{BB962C8B-B14F-4D97-AF65-F5344CB8AC3E}">
        <p14:creationId xmlns:p14="http://schemas.microsoft.com/office/powerpoint/2010/main" val="2407665596"/>
      </p:ext>
    </p:extLst>
  </p:cSld>
  <p:clrMapOvr>
    <a:masterClrMapping/>
  </p:clrMapOvr>
  <p:timing>
    <p:tnLst>
      <p:par>
        <p:cTn id="1" dur="indefinite" restart="never" nodeType="tmRoot"/>
      </p:par>
    </p:tnLst>
  </p:timing>
</p:sld>
</file>

<file path=ppt/theme/theme1.xml><?xml version="1.0" encoding="utf-8"?>
<a:theme xmlns:a="http://schemas.openxmlformats.org/drawingml/2006/main" name="SQLSatOslo 2016">
  <a:themeElements>
    <a:clrScheme name="PASS SQLSaturday">
      <a:dk1>
        <a:srgbClr val="101820"/>
      </a:dk1>
      <a:lt1>
        <a:srgbClr val="FFFFFF"/>
      </a:lt1>
      <a:dk2>
        <a:srgbClr val="414A54"/>
      </a:dk2>
      <a:lt2>
        <a:srgbClr val="F2F2F2"/>
      </a:lt2>
      <a:accent1>
        <a:srgbClr val="00BF6F"/>
      </a:accent1>
      <a:accent2>
        <a:srgbClr val="007A3E"/>
      </a:accent2>
      <a:accent3>
        <a:srgbClr val="2DCCD3"/>
      </a:accent3>
      <a:accent4>
        <a:srgbClr val="007377"/>
      </a:accent4>
      <a:accent5>
        <a:srgbClr val="6558B1"/>
      </a:accent5>
      <a:accent6>
        <a:srgbClr val="AF272F"/>
      </a:accent6>
      <a:hlink>
        <a:srgbClr val="00BF6F"/>
      </a:hlink>
      <a:folHlink>
        <a:srgbClr val="2DCCD3"/>
      </a:folHlink>
    </a:clrScheme>
    <a:fontScheme name="PASS SQLSaturday">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lIns="0" tIns="0" rIns="0" bIns="0" anchor="ctr">
        <a:spAutoFit/>
      </a:bodyPr>
      <a:lstStyle>
        <a:defPPr algn="l">
          <a:defRPr sz="2400" dirty="0" smtClean="0">
            <a:solidFill>
              <a:schemeClr val="accent1"/>
            </a:solidFil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9154</TotalTime>
  <Words>427</Words>
  <Application>Microsoft Office PowerPoint</Application>
  <PresentationFormat>Custom</PresentationFormat>
  <Paragraphs>47</Paragraphs>
  <Slides>7</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3" baseType="lpstr">
      <vt:lpstr>Arial</vt:lpstr>
      <vt:lpstr>Calibri</vt:lpstr>
      <vt:lpstr>Segoe UI</vt:lpstr>
      <vt:lpstr>Wingdings</vt:lpstr>
      <vt:lpstr>SQLSatOslo 2016</vt:lpstr>
      <vt:lpstr>Image</vt:lpstr>
      <vt:lpstr>Advanced PowerShell Database Reporting Tools (for Beginners)</vt:lpstr>
      <vt:lpstr>What are Reporting Tools?</vt:lpstr>
      <vt:lpstr>PowerShell Advantages</vt:lpstr>
      <vt:lpstr>DatabaseReporter Engine</vt:lpstr>
      <vt:lpstr>  Demos   Demo code can be found here: github.com/rohnedwards/Presentations/SqlSaturday628</vt:lpstr>
      <vt:lpstr>Contact Info</vt:lpstr>
      <vt:lpstr>Questions?</vt:lpstr>
    </vt:vector>
  </TitlesOfParts>
  <Company>Revealed Design, LLC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Carla Hamilton</dc:creator>
  <cp:lastModifiedBy>Rohn Edwards</cp:lastModifiedBy>
  <cp:revision>54</cp:revision>
  <dcterms:created xsi:type="dcterms:W3CDTF">2011-08-19T20:30:49Z</dcterms:created>
  <dcterms:modified xsi:type="dcterms:W3CDTF">2017-07-29T02:51:58Z</dcterms:modified>
</cp:coreProperties>
</file>